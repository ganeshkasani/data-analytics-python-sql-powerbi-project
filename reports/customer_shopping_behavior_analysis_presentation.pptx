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7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22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58200" y="960120"/>
            <a:ext cx="1234440" cy="1097280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960120"/>
            <a:ext cx="1234440" cy="1097280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58200" y="2331720"/>
            <a:ext cx="2697480" cy="1234440"/>
          </a:xfrm>
          <a:prstGeom prst="roundRect">
            <a:avLst>
              <a:gd name="adj" fmla="val 12000"/>
            </a:avLst>
          </a:prstGeom>
          <a:solidFill>
            <a:srgbClr val="344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58200" y="3840480"/>
            <a:ext cx="566928" cy="1371600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89720" y="3429000"/>
            <a:ext cx="566928" cy="1783080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921240" y="2971800"/>
            <a:ext cx="566928" cy="2240280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652760" y="3657600"/>
            <a:ext cx="566928" cy="1554480"/>
          </a:xfrm>
          <a:prstGeom prst="roundRect">
            <a:avLst>
              <a:gd name="adj" fmla="val 12000"/>
            </a:avLst>
          </a:prstGeom>
          <a:solidFill>
            <a:srgbClr val="6E9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6766560" cy="1508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Customer Shopping
Behavior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246120"/>
            <a:ext cx="6126480" cy="7315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7DFE8"/>
                </a:solidFill>
                <a:latin typeface="Aptos"/>
              </a:rPr>
              <a:t>Turning 3,900 shopping records into clear, evidence-based retail insights.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731520" cy="5486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62179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PYTHON  •  SQL SERVER  •  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80760"/>
            <a:ext cx="62179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0CF"/>
                </a:solidFill>
                <a:latin typeface="Aptos"/>
              </a:rPr>
              <a:t>Analysis of the supplied customer shopping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D3DCE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01 / 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A compact view of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Descriptive analysis of the supplied records; not a causal or profitability study.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64008" cy="1481328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176272"/>
            <a:ext cx="22402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PURCHASE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224028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3,900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99232"/>
            <a:ext cx="2240280" cy="4297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One row per record in the source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64008" cy="1481328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2176272"/>
            <a:ext cx="22402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487168"/>
            <a:ext cx="224028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99232"/>
            <a:ext cx="2240280" cy="4297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Customer, product, purchase and preference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260604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64008" cy="1481328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2176272"/>
            <a:ext cx="22402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PURCHASE AMOUNT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487168"/>
            <a:ext cx="224028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$233,081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999232"/>
            <a:ext cx="2240280" cy="4297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Sum of Purchase Amount (USD)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011680"/>
            <a:ext cx="254203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06840" y="2011680"/>
            <a:ext cx="64008" cy="1481328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08008" y="2176272"/>
            <a:ext cx="2176272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AVERAGE PURCHASE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2487168"/>
            <a:ext cx="2176272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$59.76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999232"/>
            <a:ext cx="2176272" cy="4297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Median: $60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886200"/>
            <a:ext cx="10908792" cy="1600200"/>
          </a:xfrm>
          <a:prstGeom prst="roundRect">
            <a:avLst>
              <a:gd name="adj" fmla="val 12000"/>
            </a:avLst>
          </a:prstGeom>
          <a:solidFill>
            <a:srgbClr val="F2E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160520"/>
            <a:ext cx="21031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WHAT STANDS 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526280"/>
            <a:ext cx="10123284" cy="52937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82336"/>
                </a:solidFill>
                <a:latin typeface="Aptos"/>
              </a:rPr>
              <a:t>Female records have a slightly higher average purchase amount; Express shipping records average more than</a:t>
            </a:r>
            <a:endParaRPr lang="en-IN" sz="1600" b="1" i="0" dirty="0">
              <a:solidFill>
                <a:srgbClr val="182336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82336"/>
                </a:solidFill>
                <a:latin typeface="Aptos"/>
              </a:rPr>
              <a:t>Standard; subscriber average spend is slightly lower than non-subscriber average.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257800"/>
            <a:ext cx="987552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87380"/>
                </a:solidFill>
                <a:latin typeface="Aptos"/>
              </a:rPr>
              <a:t>Interpret these as observed differences in this dataset—not evidence that one factor causes spending to change.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02 /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What the source data can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The CSV contains customer attributes, purchase values, product information and shopping preferences.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2578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73152" cy="987552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1554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67128"/>
            <a:ext cx="3337560" cy="5303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Age, gender, 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2578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73152" cy="987552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176272"/>
            <a:ext cx="1554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PURCHASE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198394"/>
            <a:ext cx="3257943" cy="4678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82336"/>
                </a:solidFill>
                <a:latin typeface="Aptos"/>
              </a:rPr>
              <a:t>Purchase amount, previous purchases, </a:t>
            </a:r>
            <a:endParaRPr lang="en-IN" sz="1400" b="1" i="0" dirty="0">
              <a:solidFill>
                <a:srgbClr val="182336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82336"/>
                </a:solidFill>
                <a:latin typeface="Aptos"/>
              </a:rPr>
              <a:t>frequency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52578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73152" cy="987552"/>
          </a:xfrm>
          <a:prstGeom prst="roundRect">
            <a:avLst>
              <a:gd name="adj" fmla="val 12000"/>
            </a:avLst>
          </a:prstGeom>
          <a:solidFill>
            <a:srgbClr val="45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502152"/>
            <a:ext cx="1554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493008"/>
            <a:ext cx="3337560" cy="5303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Item, category, size, color, season, rating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37560"/>
            <a:ext cx="525780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3337560"/>
            <a:ext cx="73152" cy="987552"/>
          </a:xfrm>
          <a:prstGeom prst="roundRect">
            <a:avLst>
              <a:gd name="adj" fmla="val 12000"/>
            </a:avLst>
          </a:prstGeom>
          <a:solidFill>
            <a:srgbClr val="22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502152"/>
            <a:ext cx="1554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PREFERENCE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524274"/>
            <a:ext cx="3349956" cy="4678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82336"/>
                </a:solidFill>
                <a:latin typeface="Aptos"/>
              </a:rPr>
              <a:t>Subscription, shipping, discount, promo </a:t>
            </a:r>
            <a:endParaRPr lang="en-IN" sz="1400" b="1" i="0" dirty="0">
              <a:solidFill>
                <a:srgbClr val="182336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82336"/>
                </a:solidFill>
                <a:latin typeface="Aptos"/>
              </a:rPr>
              <a:t>code, payment method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92040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E5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11496"/>
            <a:ext cx="102412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DATA QUALITY  •  37 missing values, all in Review Rating  •  Customer ID has 3,900 unique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03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One connected workflow, with clear tool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87380"/>
                </a:solidFill>
                <a:latin typeface="Aptos"/>
              </a:rPr>
              <a:t>The workflow connects Python-based preparation, SQL analysis and dashboard communication.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975103"/>
            <a:ext cx="402336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65376"/>
            <a:ext cx="2057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Load &amp; 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65376"/>
            <a:ext cx="790956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380"/>
                </a:solidFill>
                <a:latin typeface="Aptos"/>
              </a:rPr>
              <a:t>Read CSV with pandas; check shape, types, summary statistics and missing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5603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660903"/>
            <a:ext cx="402336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51176"/>
            <a:ext cx="2057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Prepare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551176"/>
            <a:ext cx="790956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380"/>
                </a:solidFill>
                <a:latin typeface="Aptos"/>
              </a:rPr>
              <a:t>Standardize column names; create age groups and map purchase-frequency labels to approximate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461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3346703"/>
            <a:ext cx="402336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36976"/>
            <a:ext cx="2057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Check business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236976"/>
            <a:ext cx="790956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380"/>
                </a:solidFill>
                <a:latin typeface="Aptos"/>
              </a:rPr>
              <a:t>Compare discount and promo-code flags; the notebook drops promo_code_used after comparison.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319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4032504"/>
            <a:ext cx="402336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22776"/>
            <a:ext cx="2057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Load to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22776"/>
            <a:ext cx="790956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380"/>
                </a:solidFill>
                <a:latin typeface="Aptos"/>
              </a:rPr>
              <a:t>Write the prepared DataFrame to SQL Server table customer using Windows Authentication.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61772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4718304"/>
            <a:ext cx="402336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608576"/>
            <a:ext cx="2057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Query &amp; 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608576"/>
            <a:ext cx="768096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87380"/>
                </a:solidFill>
                <a:latin typeface="Aptos"/>
              </a:rPr>
              <a:t>Use SQL queries to answer 10 business questions, then communicate key findings in Power BI Desktop.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32120"/>
            <a:ext cx="10744200" cy="566928"/>
          </a:xfrm>
          <a:prstGeom prst="roundRect">
            <a:avLst>
              <a:gd name="adj" fmla="val 12000"/>
            </a:avLst>
          </a:prstGeom>
          <a:solidFill>
            <a:srgbClr val="18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715000"/>
            <a:ext cx="658368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DDA441"/>
                </a:solidFill>
                <a:latin typeface="Aptos"/>
              </a:rPr>
              <a:t>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669280"/>
            <a:ext cx="2286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Jupyter Notebook ·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669280"/>
            <a:ext cx="2926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Microsoft SQL Server · SSMS 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56692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Power BI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04 / PURCHASE AMOUNT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A typical record is around $60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Purchase amount is a transaction value; the dataset does not contain cost or margin fields.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176272"/>
            <a:ext cx="2697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TOTAL PURCHASE 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269748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$233,081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999232"/>
            <a:ext cx="269748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Across all 3,900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01168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53712" y="201168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176272"/>
            <a:ext cx="2697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87168"/>
            <a:ext cx="269748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$59.76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99232"/>
            <a:ext cx="269748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Average per 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01168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21040" y="201168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22208" y="2176272"/>
            <a:ext cx="2697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487168"/>
            <a:ext cx="269748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$60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999232"/>
            <a:ext cx="269748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Middle purchase amount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05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9EB0ED-6656-05AB-9CEA-E3FCFC9FCED6}"/>
              </a:ext>
            </a:extLst>
          </p:cNvPr>
          <p:cNvSpPr/>
          <p:nvPr/>
        </p:nvSpPr>
        <p:spPr>
          <a:xfrm>
            <a:off x="777240" y="4142232"/>
            <a:ext cx="10607040" cy="1673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F037F6-B5E9-B600-3073-574FDCDA5BA2}"/>
              </a:ext>
            </a:extLst>
          </p:cNvPr>
          <p:cNvSpPr txBox="1"/>
          <p:nvPr/>
        </p:nvSpPr>
        <p:spPr>
          <a:xfrm>
            <a:off x="978408" y="4455042"/>
            <a:ext cx="10405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TAKEAWAY</a:t>
            </a:r>
            <a:endParaRPr lang="en-IN" dirty="0"/>
          </a:p>
          <a:p>
            <a:r>
              <a:rPr lang="en-IN" dirty="0"/>
              <a:t>The mean purchase amount ($59.76) and median ($60) are nearly identical, indicating that a typical purchase in this dataset is around $60.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05 / CUSTOMER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Total spend and average spend tell different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Male records are more numerous, while female records have a slightly higher mean purchase amount.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178100"/>
            <a:ext cx="1353312" cy="9601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232B36"/>
                </a:solidFill>
                <a:latin typeface="Aptos"/>
              </a:rPr>
              <a:t>Male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24111" y="2412188"/>
            <a:ext cx="3794760" cy="482803"/>
          </a:xfrm>
          <a:prstGeom prst="roundRect">
            <a:avLst>
              <a:gd name="adj" fmla="val 12000"/>
            </a:avLst>
          </a:prstGeom>
          <a:solidFill>
            <a:srgbClr val="22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1660" y="2363724"/>
            <a:ext cx="868680" cy="60350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dirty="0">
                <a:solidFill>
                  <a:srgbClr val="232B36"/>
                </a:solidFill>
                <a:latin typeface="Aptos"/>
              </a:rPr>
              <a:t>$157,890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70" y="3138220"/>
            <a:ext cx="1353312" cy="9601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232B36"/>
                </a:solidFill>
                <a:latin typeface="Aptos"/>
              </a:rPr>
              <a:t>Female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24111" y="3376878"/>
            <a:ext cx="1807155" cy="482803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8733" y="3335731"/>
            <a:ext cx="868680" cy="60350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$75,191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85416"/>
            <a:ext cx="1353312" cy="9601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Male average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400300"/>
            <a:ext cx="2512610" cy="482803"/>
          </a:xfrm>
          <a:prstGeom prst="roundRect">
            <a:avLst>
              <a:gd name="adj" fmla="val 12000"/>
            </a:avLst>
          </a:prstGeom>
          <a:solidFill>
            <a:srgbClr val="22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59330" y="2329891"/>
            <a:ext cx="868680" cy="60350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$59.54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91256"/>
            <a:ext cx="1353312" cy="9601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Female average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406140"/>
            <a:ext cx="2542701" cy="482803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89421" y="3335731"/>
            <a:ext cx="868680" cy="60350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$60.25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10515600" cy="713232"/>
          </a:xfrm>
          <a:prstGeom prst="roundRect">
            <a:avLst>
              <a:gd name="adj" fmla="val 12000"/>
            </a:avLst>
          </a:prstGeom>
          <a:solidFill>
            <a:srgbClr val="F2E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038344"/>
            <a:ext cx="99669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Record counts: Male 2,652  •  Female 1,248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06 / DISCOUNT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839 records combine a discount flag with above-average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This is a filtered group for follow-up analysis—not proof that discounts increased spending.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283464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64008" cy="1554480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24688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OVERALL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78608"/>
            <a:ext cx="246888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$59.76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090672"/>
            <a:ext cx="246888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Reference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103120"/>
            <a:ext cx="283464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86200" y="2103120"/>
            <a:ext cx="64008" cy="1554480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87368" y="2267712"/>
            <a:ext cx="24688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FILTERED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2578608"/>
            <a:ext cx="246888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839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3090672"/>
            <a:ext cx="246888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Discount Applied = Yes and amount ≥ overall mean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103120"/>
            <a:ext cx="283464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49440" y="2103120"/>
            <a:ext cx="64008" cy="1554480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0607" y="2267712"/>
            <a:ext cx="24688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SHARE OF ALL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7" y="2578608"/>
            <a:ext cx="246888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82336"/>
                </a:solidFill>
                <a:latin typeface="Aptos"/>
              </a:rPr>
              <a:t>21.5%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7" y="3090672"/>
            <a:ext cx="246888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Descriptive share of the 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51960"/>
            <a:ext cx="10332720" cy="1051560"/>
          </a:xfrm>
          <a:prstGeom prst="roundRect">
            <a:avLst>
              <a:gd name="adj" fmla="val 12000"/>
            </a:avLst>
          </a:prstGeom>
          <a:solidFill>
            <a:srgbClr val="E5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498848"/>
            <a:ext cx="26517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Business question to test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407408"/>
            <a:ext cx="7373493" cy="40626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687380"/>
                </a:solidFill>
                <a:latin typeface="Aptos"/>
              </a:rPr>
              <a:t>Compare discount and non-discount records using spend distributions, product mix and—if available—margin </a:t>
            </a:r>
            <a:endParaRPr lang="en-IN" sz="1200" b="0" i="0" dirty="0">
              <a:solidFill>
                <a:srgbClr val="687380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687380"/>
                </a:solidFill>
                <a:latin typeface="Aptos"/>
              </a:rPr>
              <a:t>or incremental lift.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07 /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Gloves have the highest average available 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Ratings are averaged over non-missing Review Rating values; the number of available ratings is shown alongside.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48256"/>
            <a:ext cx="1353312" cy="5394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Gloves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2157984"/>
            <a:ext cx="3002302" cy="280903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25462" y="2117018"/>
            <a:ext cx="868680" cy="35112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3.86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1353312" cy="5394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Sandals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743200"/>
            <a:ext cx="2988218" cy="280903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11378" y="2702234"/>
            <a:ext cx="868680" cy="35112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3.84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18688"/>
            <a:ext cx="1353312" cy="5394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Boots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3328416"/>
            <a:ext cx="2968187" cy="280903"/>
          </a:xfrm>
          <a:prstGeom prst="roundRect">
            <a:avLst>
              <a:gd name="adj" fmla="val 12000"/>
            </a:avLst>
          </a:prstGeom>
          <a:solidFill>
            <a:srgbClr val="22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1347" y="3287450"/>
            <a:ext cx="868680" cy="35112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3.82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03904"/>
            <a:ext cx="1353312" cy="5394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31720" y="3913632"/>
            <a:ext cx="2954527" cy="280903"/>
          </a:xfrm>
          <a:prstGeom prst="roundRect">
            <a:avLst>
              <a:gd name="adj" fmla="val 12000"/>
            </a:avLst>
          </a:prstGeom>
          <a:solidFill>
            <a:srgbClr val="45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77687" y="3872666"/>
            <a:ext cx="868680" cy="35112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3.80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1353312" cy="53949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Skirt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4498848"/>
            <a:ext cx="2942125" cy="280903"/>
          </a:xfrm>
          <a:prstGeom prst="roundRect">
            <a:avLst>
              <a:gd name="adj" fmla="val 12000"/>
            </a:avLst>
          </a:prstGeom>
          <a:solidFill>
            <a:srgbClr val="6E9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65285" y="4457882"/>
            <a:ext cx="868680" cy="351129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3.79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1965960"/>
            <a:ext cx="411480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212848"/>
            <a:ext cx="338328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AVAILABLE 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2651760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Gloves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651760"/>
            <a:ext cx="1143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87380"/>
                </a:solidFill>
                <a:latin typeface="Aptos"/>
              </a:rPr>
              <a:t>n = 137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072384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Sandals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072384"/>
            <a:ext cx="1143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87380"/>
                </a:solidFill>
                <a:latin typeface="Aptos"/>
              </a:rPr>
              <a:t>n = 159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3493008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Boots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493008"/>
            <a:ext cx="1143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87380"/>
                </a:solidFill>
                <a:latin typeface="Aptos"/>
              </a:rPr>
              <a:t>n =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3913632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3913632"/>
            <a:ext cx="1143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87380"/>
                </a:solidFill>
                <a:latin typeface="Aptos"/>
              </a:rPr>
              <a:t>n = 153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4334256"/>
            <a:ext cx="20574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Skirt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334256"/>
            <a:ext cx="11430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87380"/>
                </a:solidFill>
                <a:latin typeface="Aptos"/>
              </a:rPr>
              <a:t>n = 157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321808"/>
            <a:ext cx="100584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87380"/>
                </a:solidFill>
                <a:latin typeface="Aptos"/>
              </a:rPr>
              <a:t>37 ratings are missing overall. Average ratings alone do not measure sales volume or profitability.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08 / SHIPPING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Express records average $2.02 more per purchase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Only Standard and Express are included in this specific SQL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76856"/>
            <a:ext cx="1353312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Express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480310"/>
            <a:ext cx="3120418" cy="460857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35018" y="2413101"/>
            <a:ext cx="868680" cy="5760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$60.48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36976"/>
            <a:ext cx="1353312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Standard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440430"/>
            <a:ext cx="3016448" cy="460857"/>
          </a:xfrm>
          <a:prstGeom prst="roundRect">
            <a:avLst>
              <a:gd name="adj" fmla="val 12000"/>
            </a:avLst>
          </a:prstGeom>
          <a:solidFill>
            <a:srgbClr val="22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1048" y="3373221"/>
            <a:ext cx="868680" cy="5760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$58.46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240280"/>
            <a:ext cx="347472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86600" y="224028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87768" y="2404872"/>
            <a:ext cx="31089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AVERAGE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715768"/>
            <a:ext cx="3108960" cy="4754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82336"/>
                </a:solidFill>
                <a:latin typeface="Aptos"/>
              </a:rPr>
              <a:t>$2.02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3227832"/>
            <a:ext cx="310896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Express minus Standard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709160"/>
            <a:ext cx="9875520" cy="749808"/>
          </a:xfrm>
          <a:prstGeom prst="roundRect">
            <a:avLst>
              <a:gd name="adj" fmla="val 12000"/>
            </a:avLst>
          </a:prstGeom>
          <a:solidFill>
            <a:srgbClr val="F2E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4965192"/>
            <a:ext cx="91440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Record counts  •  Express: 646  |  Standard: 654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596128"/>
            <a:ext cx="97840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87380"/>
                </a:solidFill>
                <a:latin typeface="Aptos"/>
              </a:rPr>
              <a:t>Observed averages do not establish that shipping type causes higher spending.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09 / SUBSCRIPTION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Subscriber average spend is slightly lower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Compare record counts, total purchase amount and mean together before evaluating subscription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4800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40233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DA441"/>
                </a:solidFill>
                <a:latin typeface="Aptos"/>
              </a:rPr>
              <a:t>SUBSCRIBERS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18288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82336"/>
                </a:solidFill>
                <a:latin typeface="Aptos"/>
              </a:rPr>
              <a:t>1,053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3182112"/>
            <a:ext cx="13716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743200"/>
            <a:ext cx="18288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82336"/>
                </a:solidFill>
                <a:latin typeface="Aptos"/>
              </a:rPr>
              <a:t>$59.49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3182112"/>
            <a:ext cx="20116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average purchase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886200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87380"/>
                </a:solidFill>
                <a:latin typeface="Aptos"/>
              </a:rPr>
              <a:t>Total amount: $62,645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057400"/>
            <a:ext cx="4800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40233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NON-SUBSCRIBERS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18288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82336"/>
                </a:solidFill>
                <a:latin typeface="Aptos"/>
              </a:rPr>
              <a:t>2,847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182112"/>
            <a:ext cx="137160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182880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82336"/>
                </a:solidFill>
                <a:latin typeface="Aptos"/>
              </a:rPr>
              <a:t>$59.87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182112"/>
            <a:ext cx="20116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average 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886200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87380"/>
                </a:solidFill>
                <a:latin typeface="Aptos"/>
              </a:rPr>
              <a:t>Total amount: $170,436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82336"/>
                </a:solidFill>
                <a:latin typeface="Aptos"/>
              </a:rPr>
              <a:t>Subscriber mean is $0.37 lower in this dataset. This comparison is descriptive, not a causal estimate of subscription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10 / 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Queries turn business questions into repeatable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The supplied SQL script contains 10 questions covering purchase totals, discounts, ratings, shipping, subscriptions, segments and product rankings.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26517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26517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82336"/>
                </a:solidFill>
                <a:latin typeface="Aptos"/>
              </a:rPr>
              <a:t>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55264"/>
            <a:ext cx="2743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1 previous purchase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14884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2395728"/>
            <a:ext cx="26517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DA441"/>
                </a:solidFill>
                <a:latin typeface="Aptos"/>
              </a:rPr>
              <a:t>RETURNING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761488"/>
            <a:ext cx="26517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82336"/>
                </a:solidFill>
                <a:latin typeface="Aptos"/>
              </a:rPr>
              <a:t>701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255264"/>
            <a:ext cx="2743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2–10 previous purchases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148840"/>
            <a:ext cx="333756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395728"/>
            <a:ext cx="265176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58771"/>
                </a:solidFill>
                <a:latin typeface="Aptos"/>
              </a:rPr>
              <a:t>LOYAL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61488"/>
            <a:ext cx="26517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82336"/>
                </a:solidFill>
                <a:latin typeface="Aptos"/>
              </a:rPr>
              <a:t>3,116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55264"/>
            <a:ext cx="274320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87380"/>
                </a:solidFill>
                <a:latin typeface="Aptos"/>
              </a:rPr>
              <a:t>More than 10 previous purchases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60520"/>
            <a:ext cx="10744200" cy="1005840"/>
          </a:xfrm>
          <a:prstGeom prst="roundRect">
            <a:avLst>
              <a:gd name="adj" fmla="val 12000"/>
            </a:avLst>
          </a:prstGeom>
          <a:solidFill>
            <a:srgbClr val="E5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407408"/>
            <a:ext cx="237744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82336"/>
                </a:solidFill>
                <a:latin typeface="Aptos"/>
              </a:rPr>
              <a:t>Important definition caveat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325112"/>
            <a:ext cx="7963206" cy="406265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687380"/>
                </a:solidFill>
                <a:latin typeface="Aptos"/>
              </a:rPr>
              <a:t>These are rule-based labels derived from Previous Purchases, not verified lifecycle stages. In particular, the SQL defines </a:t>
            </a:r>
            <a:endParaRPr lang="en-IN" sz="1200" b="0" i="0" dirty="0">
              <a:solidFill>
                <a:srgbClr val="687380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687380"/>
                </a:solidFill>
                <a:latin typeface="Aptos"/>
              </a:rPr>
              <a:t>“New” as exactly one previous purchase.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11 / PROMOTION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Discount flags vary by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The top five items below have the highest share of records marked Discount Applied = Yes.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93976"/>
            <a:ext cx="1353312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05990"/>
            <a:ext cx="4114800" cy="285292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79" y="2164384"/>
            <a:ext cx="868680" cy="3566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50.0%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88336"/>
            <a:ext cx="1353312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Sneakers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800350"/>
            <a:ext cx="4086422" cy="285292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5302" y="2758744"/>
            <a:ext cx="868680" cy="3566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49.7%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2696"/>
            <a:ext cx="1353312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Coat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394710"/>
            <a:ext cx="4038126" cy="285292"/>
          </a:xfrm>
          <a:prstGeom prst="roundRect">
            <a:avLst>
              <a:gd name="adj" fmla="val 12000"/>
            </a:avLst>
          </a:prstGeom>
          <a:solidFill>
            <a:srgbClr val="22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7006" y="3353104"/>
            <a:ext cx="868680" cy="3566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49.1%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1353312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Sweater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989070"/>
            <a:ext cx="3964258" cy="285292"/>
          </a:xfrm>
          <a:prstGeom prst="roundRect">
            <a:avLst>
              <a:gd name="adj" fmla="val 12000"/>
            </a:avLst>
          </a:prstGeom>
          <a:solidFill>
            <a:srgbClr val="45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3138" y="3947464"/>
            <a:ext cx="868680" cy="3566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48.2%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71416"/>
            <a:ext cx="1353312" cy="5486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32B36"/>
                </a:solidFill>
                <a:latin typeface="Aptos"/>
              </a:rPr>
              <a:t>Pants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4583429"/>
            <a:ext cx="3898231" cy="285292"/>
          </a:xfrm>
          <a:prstGeom prst="roundRect">
            <a:avLst>
              <a:gd name="adj" fmla="val 12000"/>
            </a:avLst>
          </a:prstGeom>
          <a:solidFill>
            <a:srgbClr val="6E9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7111" y="4541824"/>
            <a:ext cx="868680" cy="35661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32B36"/>
                </a:solidFill>
                <a:latin typeface="Aptos"/>
              </a:rPr>
              <a:t>47.4%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19456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2487168"/>
            <a:ext cx="25603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BUSINESS 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926080"/>
            <a:ext cx="2852384" cy="103720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182336"/>
                </a:solidFill>
                <a:latin typeface="Aptos"/>
              </a:rPr>
              <a:t>Frequent discount flags may be a </a:t>
            </a:r>
            <a:endParaRPr lang="en-IN" sz="1300" b="1" i="0" dirty="0">
              <a:solidFill>
                <a:srgbClr val="182336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182336"/>
                </a:solidFill>
                <a:latin typeface="Aptos"/>
              </a:rPr>
              <a:t>prompt to investigate promotion </a:t>
            </a:r>
            <a:endParaRPr lang="en-IN" sz="1300" b="1" i="0" dirty="0">
              <a:solidFill>
                <a:srgbClr val="182336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182336"/>
                </a:solidFill>
                <a:latin typeface="Aptos"/>
              </a:rPr>
              <a:t>dependence. They do not show profit </a:t>
            </a:r>
            <a:endParaRPr lang="en-IN" sz="1300" b="1" i="0" dirty="0">
              <a:solidFill>
                <a:srgbClr val="182336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182336"/>
                </a:solidFill>
                <a:latin typeface="Aptos"/>
              </a:rPr>
              <a:t>impact or whether discounts caused </a:t>
            </a:r>
            <a:endParaRPr lang="en-IN" sz="1300" b="1" i="0" dirty="0">
              <a:solidFill>
                <a:srgbClr val="182336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182336"/>
                </a:solidFill>
                <a:latin typeface="Aptos"/>
              </a:rPr>
              <a:t>purchases.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87380"/>
                </a:solidFill>
                <a:latin typeface="Aptos"/>
              </a:rPr>
              <a:t>Validate with margins, costs and promotion response before changing discount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12 /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Turn descriptive patterns into testable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Use the findings to prioritize questions for further analysis—not to claim guaranteed business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093976"/>
            <a:ext cx="438912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84248"/>
            <a:ext cx="21488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Subscription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65960"/>
            <a:ext cx="740664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Compare repeat-purchase rates and spend distributions with appropriate denominators.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07208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ED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935224"/>
            <a:ext cx="438912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25496"/>
            <a:ext cx="21488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Discount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07208"/>
            <a:ext cx="740664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Measure margin and incremental lift before expanding promotions.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48456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4587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776472"/>
            <a:ext cx="438912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66744"/>
            <a:ext cx="21488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Merchandising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648456"/>
            <a:ext cx="740664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Combine ratings, purchase counts and discount frequency to guide product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489704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22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617720"/>
            <a:ext cx="438912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07992"/>
            <a:ext cx="21488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82336"/>
                </a:solidFill>
                <a:latin typeface="Aptos"/>
              </a:rPr>
              <a:t>Shipping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89704"/>
            <a:ext cx="740664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Assess customer experience and order mix alongside the observed spend difference.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13 / QUALITY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1813"/>
            <a:ext cx="10972800" cy="53035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82336"/>
                </a:solidFill>
                <a:latin typeface="Aptos"/>
              </a:rPr>
              <a:t>Keep the story aligned with what the data supports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25296"/>
            <a:ext cx="1088136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87380"/>
                </a:solidFill>
                <a:latin typeface="Aptos"/>
              </a:rPr>
              <a:t>A strong portfolio is transparent about data gaps, transformation choices and what still needs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700784"/>
            <a:ext cx="621792" cy="41148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2578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9632" y="1965960"/>
            <a:ext cx="525780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3891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DATA &amp;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40280"/>
            <a:ext cx="43891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C43"/>
                </a:solidFill>
                <a:latin typeface="Aptos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4954370" cy="1804597"/>
          </a:xfrm>
          <a:prstGeom prst="rect">
            <a:avLst/>
          </a:prstGeom>
          <a:noFill/>
        </p:spPr>
        <p:txBody>
          <a:bodyPr wrap="none" lIns="27432" tIns="27432" rIns="27432" b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37 Review Rating values are missing; the supplied notebook does not </a:t>
            </a:r>
            <a:endParaRPr lang="en-IN" dirty="0"/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impute them.</a:t>
            </a:r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Purchase-frequency-to-days values are mapped from categories; they are </a:t>
            </a:r>
            <a:endParaRPr lang="en-IN" dirty="0"/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not observed time intervals.</a:t>
            </a:r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Age groups are created using pandas </a:t>
            </a:r>
            <a:r>
              <a:rPr dirty="0" err="1"/>
              <a:t>qcut</a:t>
            </a:r>
            <a:r>
              <a:rPr dirty="0"/>
              <a:t> labels, so boundaries depend </a:t>
            </a:r>
            <a:endParaRPr lang="en-IN" dirty="0"/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on the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697480"/>
            <a:ext cx="4915063" cy="2430409"/>
          </a:xfrm>
          <a:prstGeom prst="rect">
            <a:avLst/>
          </a:prstGeom>
          <a:noFill/>
        </p:spPr>
        <p:txBody>
          <a:bodyPr wrap="none" lIns="27432" tIns="27432" rIns="27432" b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Payment Method and Season are available fields in the source CSV.</a:t>
            </a:r>
            <a:endParaRPr lang="en-IN" dirty="0"/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No purchase date, profit, cost, margin or online/offline channel field is </a:t>
            </a:r>
            <a:endParaRPr lang="en-IN" dirty="0"/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supplied.</a:t>
            </a:r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Dashboard measures should be reconciled with executed SQL results for </a:t>
            </a:r>
            <a:endParaRPr lang="en-IN" dirty="0"/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r>
              <a:rPr dirty="0"/>
              <a:t>consistency.</a:t>
            </a:r>
            <a:endParaRPr lang="en-IN" dirty="0"/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1000"/>
              </a:spcAft>
              <a:defRPr sz="1200">
                <a:solidFill>
                  <a:srgbClr val="232B36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10725912" cy="502920"/>
          </a:xfrm>
          <a:prstGeom prst="roundRect">
            <a:avLst>
              <a:gd name="adj" fmla="val 12000"/>
            </a:avLst>
          </a:prstGeom>
          <a:solidFill>
            <a:srgbClr val="18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687568"/>
            <a:ext cx="102412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PROJECT ASSETS  •  Python notebook  ·  SQL analysis  ·  Power BI dashboard  ·  README  ·  Data dictionary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37392" y="6455664"/>
            <a:ext cx="4114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873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1183</Words>
  <Application>Microsoft Office PowerPoint</Application>
  <PresentationFormat>Widescreen</PresentationFormat>
  <Paragraphs>235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kasani ganesh</cp:lastModifiedBy>
  <cp:revision>3</cp:revision>
  <dcterms:created xsi:type="dcterms:W3CDTF">2013-01-27T09:14:16Z</dcterms:created>
  <dcterms:modified xsi:type="dcterms:W3CDTF">2026-10-10T12:10:53Z</dcterms:modified>
  <cp:category/>
</cp:coreProperties>
</file>